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007577361" r:id="rId2"/>
    <p:sldId id="2007577378" r:id="rId3"/>
    <p:sldId id="2007577380" r:id="rId4"/>
    <p:sldId id="2007577381" r:id="rId5"/>
    <p:sldId id="2007577382" r:id="rId6"/>
    <p:sldId id="449" r:id="rId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653B8C7-5048-438B-B8D2-F15A4983CDE5}">
          <p14:sldIdLst>
            <p14:sldId id="2007577361"/>
            <p14:sldId id="2007577378"/>
            <p14:sldId id="2007577380"/>
            <p14:sldId id="2007577381"/>
            <p14:sldId id="2007577382"/>
            <p14:sldId id="4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DA7"/>
    <a:srgbClr val="00A5A1"/>
    <a:srgbClr val="720C1F"/>
    <a:srgbClr val="0C5DA7"/>
    <a:srgbClr val="085DA7"/>
    <a:srgbClr val="0055A8"/>
    <a:srgbClr val="37619E"/>
    <a:srgbClr val="0070C0"/>
    <a:srgbClr val="FFFD78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0" autoAdjust="0"/>
    <p:restoredTop sz="90233" autoAdjust="0"/>
  </p:normalViewPr>
  <p:slideViewPr>
    <p:cSldViewPr>
      <p:cViewPr varScale="1">
        <p:scale>
          <a:sx n="77" d="100"/>
          <a:sy n="77" d="100"/>
        </p:scale>
        <p:origin x="976" y="48"/>
      </p:cViewPr>
      <p:guideLst>
        <p:guide orient="horz" pos="32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A6023-605D-3B43-943E-05438FD8F960}" type="datetimeFigureOut">
              <a:rPr kumimoji="1" lang="zh-CN" altLang="en-US" smtClean="0"/>
              <a:t>2024/2/21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78D49-89F0-B84A-A2E9-4954859F3F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78D49-89F0-B84A-A2E9-4954859F3F0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764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46782" y="3724673"/>
            <a:ext cx="6400800" cy="369407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>
                <a:solidFill>
                  <a:srgbClr val="0C5DA7"/>
                </a:solidFill>
                <a:latin typeface="MGI Regular" panose="02010604000000000000" pitchFamily="2" charset="-122"/>
                <a:ea typeface="MGI Regular" panose="02010604000000000000" pitchFamily="2" charset="-122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E1EF235-79A7-C848-8B9C-DB0319E2567D}"/>
              </a:ext>
            </a:extLst>
          </p:cNvPr>
          <p:cNvGrpSpPr/>
          <p:nvPr userDrawn="1"/>
        </p:nvGrpSpPr>
        <p:grpSpPr>
          <a:xfrm>
            <a:off x="-12831" y="1"/>
            <a:ext cx="9156831" cy="2857501"/>
            <a:chOff x="-12831" y="1"/>
            <a:chExt cx="9156831" cy="2857501"/>
          </a:xfrm>
        </p:grpSpPr>
        <p:pic>
          <p:nvPicPr>
            <p:cNvPr id="8" name="图片 7" descr="图片包含 滑雪, 骑, 游戏机, 雪&#10;&#10;描述已自动生成">
              <a:extLst>
                <a:ext uri="{FF2B5EF4-FFF2-40B4-BE49-F238E27FC236}">
                  <a16:creationId xmlns:a16="http://schemas.microsoft.com/office/drawing/2014/main" id="{2E319C2A-546B-AD40-8C23-7A1B274E9E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6944"/>
            <a:stretch/>
          </p:blipFill>
          <p:spPr>
            <a:xfrm>
              <a:off x="-12831" y="1"/>
              <a:ext cx="9156831" cy="2214559"/>
            </a:xfrm>
            <a:prstGeom prst="rect">
              <a:avLst/>
            </a:prstGeom>
          </p:spPr>
        </p:pic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EEF55B98-D5E7-B047-98E1-BBDABE994A45}"/>
                </a:ext>
              </a:extLst>
            </p:cNvPr>
            <p:cNvSpPr/>
            <p:nvPr/>
          </p:nvSpPr>
          <p:spPr>
            <a:xfrm rot="2700000">
              <a:off x="3893339" y="1500180"/>
              <a:ext cx="1357322" cy="13573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429308B2-2A7C-044E-B68C-A6B359A2D6BB}"/>
                </a:ext>
              </a:extLst>
            </p:cNvPr>
            <p:cNvSpPr/>
            <p:nvPr/>
          </p:nvSpPr>
          <p:spPr>
            <a:xfrm rot="2700000">
              <a:off x="4114000" y="1756560"/>
              <a:ext cx="892975" cy="892975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3039231"/>
            <a:ext cx="7772400" cy="614852"/>
          </a:xfrm>
        </p:spPr>
        <p:txBody>
          <a:bodyPr>
            <a:normAutofit/>
          </a:bodyPr>
          <a:lstStyle>
            <a:lvl1pPr>
              <a:defRPr sz="2800" b="1" i="0">
                <a:solidFill>
                  <a:srgbClr val="0C5DA7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08B6B810-E0C5-4742-8030-17FA2B9B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17BBC159-11DB-2E45-8FE2-ABB07B75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2024/2/21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4ED33BAF-4114-2040-B09E-9E362CC6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D6B66638-9964-8142-BAF4-CA8296E0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8600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360"/>
            <a:ext cx="4038600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536"/>
            <a:ext cx="4040188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442"/>
            <a:ext cx="4040188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536"/>
            <a:ext cx="4041775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442"/>
            <a:ext cx="4041775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7418" y="195486"/>
            <a:ext cx="3136470" cy="349511"/>
          </a:xfrm>
        </p:spPr>
        <p:txBody>
          <a:bodyPr>
            <a:normAutofit/>
          </a:bodyPr>
          <a:lstStyle>
            <a:lvl1pPr algn="l">
              <a:defRPr sz="1800" b="1" i="0">
                <a:solidFill>
                  <a:srgbClr val="0C5DA7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B7DB58-C05F-7740-A44C-B469A415CCD7}"/>
              </a:ext>
            </a:extLst>
          </p:cNvPr>
          <p:cNvSpPr/>
          <p:nvPr userDrawn="1"/>
        </p:nvSpPr>
        <p:spPr>
          <a:xfrm flipH="1">
            <a:off x="334414" y="267494"/>
            <a:ext cx="45720" cy="216000"/>
          </a:xfrm>
          <a:prstGeom prst="rect">
            <a:avLst/>
          </a:prstGeom>
          <a:solidFill>
            <a:srgbClr val="055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32EFAB-1344-8D4C-AEF2-12B5AF6742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0993" y="-26225"/>
            <a:ext cx="1039519" cy="73545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55526"/>
            <a:ext cx="7459336" cy="472392"/>
          </a:xfrm>
        </p:spPr>
        <p:txBody>
          <a:bodyPr>
            <a:normAutofit/>
          </a:bodyPr>
          <a:lstStyle>
            <a:lvl1pPr algn="r"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A645-D8EF-4256-9E7E-C76C25C6FBC7}" type="datetimeFigureOut">
              <a:rPr lang="zh-CN" altLang="en-US" smtClean="0"/>
              <a:t>2024/2/21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008B-E4A1-488E-A4AD-51F8C6A8F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156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5EE7BE7-B152-FF4C-AECD-5F57755218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713" y="122495"/>
            <a:ext cx="5341844" cy="2420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50" b="1" i="0">
                <a:solidFill>
                  <a:srgbClr val="043D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135E5E-CDA0-3C41-9BA8-6F4ADD6F89F1}"/>
              </a:ext>
            </a:extLst>
          </p:cNvPr>
          <p:cNvSpPr/>
          <p:nvPr userDrawn="1"/>
        </p:nvSpPr>
        <p:spPr>
          <a:xfrm>
            <a:off x="191621" y="172921"/>
            <a:ext cx="252132" cy="252132"/>
          </a:xfrm>
          <a:prstGeom prst="rect">
            <a:avLst/>
          </a:prstGeom>
          <a:solidFill>
            <a:srgbClr val="1B51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17047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360"/>
            <a:ext cx="8229600" cy="339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097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097"/>
            <a:ext cx="2895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097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61" r:id="rId7"/>
    <p:sldLayoutId id="2147483662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654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0066D3-2B84-724B-B5F7-5ECE17D87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560" y="3099486"/>
            <a:ext cx="7772400" cy="614852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E1-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北京优讯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200Ppostloading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压力不足</a:t>
            </a:r>
          </a:p>
        </p:txBody>
      </p:sp>
    </p:spTree>
    <p:extLst>
      <p:ext uri="{BB962C8B-B14F-4D97-AF65-F5344CB8AC3E}">
        <p14:creationId xmlns:p14="http://schemas.microsoft.com/office/powerpoint/2010/main" val="413984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FD3EA-7A52-4ED0-A5E7-0BA4B813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现场案例分析总结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9DC97D-5312-433C-A704-6113AD1EDA42}"/>
              </a:ext>
            </a:extLst>
          </p:cNvPr>
          <p:cNvSpPr txBox="1"/>
          <p:nvPr/>
        </p:nvSpPr>
        <p:spPr>
          <a:xfrm>
            <a:off x="323528" y="771550"/>
            <a:ext cx="8352928" cy="33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现场问题描述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客户端数据整理清单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数据分析和排查方向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FSE/FAS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排查小结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现存关键问题梳理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下一步计划</a:t>
            </a:r>
          </a:p>
        </p:txBody>
      </p:sp>
    </p:spTree>
    <p:extLst>
      <p:ext uri="{BB962C8B-B14F-4D97-AF65-F5344CB8AC3E}">
        <p14:creationId xmlns:p14="http://schemas.microsoft.com/office/powerpoint/2010/main" val="22090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5B0B5-9A49-5FDE-2C16-234FA831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8" y="206015"/>
            <a:ext cx="3136470" cy="349511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现场问题描述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4549B5-0176-4D45-9E4B-1C859CF0A2CA}"/>
              </a:ext>
            </a:extLst>
          </p:cNvPr>
          <p:cNvSpPr/>
          <p:nvPr/>
        </p:nvSpPr>
        <p:spPr>
          <a:xfrm>
            <a:off x="375473" y="699542"/>
            <a:ext cx="83930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kumimoji="1"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36F78A-125E-FBE7-33A0-9DE0F356197E}"/>
              </a:ext>
            </a:extLst>
          </p:cNvPr>
          <p:cNvSpPr txBox="1"/>
          <p:nvPr/>
        </p:nvSpPr>
        <p:spPr>
          <a:xfrm>
            <a:off x="323528" y="653618"/>
            <a:ext cx="8712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SN:USCIA1230002</a:t>
            </a:r>
            <a:r>
              <a:rPr lang="zh-CN" altLang="en-US" sz="1400" b="1" dirty="0"/>
              <a:t>（优讯</a:t>
            </a:r>
            <a:r>
              <a:rPr lang="en-US" altLang="zh-CN" sz="1400" b="1" dirty="0"/>
              <a:t>OEM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  200</a:t>
            </a:r>
            <a:r>
              <a:rPr lang="zh-CN" altLang="en-US" sz="1400" b="1" dirty="0"/>
              <a:t>配置</a:t>
            </a:r>
            <a:r>
              <a:rPr lang="en-US" altLang="zh-CN" sz="1400" b="1" dirty="0"/>
              <a:t>2  ECR5.0</a:t>
            </a:r>
            <a:r>
              <a:rPr lang="zh-CN" altLang="en-US" sz="1400" b="1" dirty="0"/>
              <a:t>版本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757533-6690-56D5-0C33-30FCB4A979B6}"/>
              </a:ext>
            </a:extLst>
          </p:cNvPr>
          <p:cNvSpPr txBox="1"/>
          <p:nvPr/>
        </p:nvSpPr>
        <p:spPr>
          <a:xfrm>
            <a:off x="375473" y="1275606"/>
            <a:ext cx="6284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客户上机多次出现</a:t>
            </a:r>
            <a:r>
              <a:rPr lang="en-US" altLang="zh-CN" sz="1400" b="1" dirty="0" err="1"/>
              <a:t>postloading</a:t>
            </a:r>
            <a:r>
              <a:rPr lang="zh-CN" altLang="en-US" sz="1400" b="1" dirty="0"/>
              <a:t>阶段泵液压力不足导致测序异常</a:t>
            </a:r>
          </a:p>
        </p:txBody>
      </p:sp>
      <p:pic>
        <p:nvPicPr>
          <p:cNvPr id="8" name="图片 7" descr="图片包含 图表&#10;&#10;描述已自动生成">
            <a:extLst>
              <a:ext uri="{FF2B5EF4-FFF2-40B4-BE49-F238E27FC236}">
                <a16:creationId xmlns:a16="http://schemas.microsoft.com/office/drawing/2014/main" id="{BC33C7B4-5D41-99DE-CE70-494220897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860" y="1583383"/>
            <a:ext cx="3960440" cy="2845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7BF3F5C-55C8-DF8E-3236-DE2A0523948A}"/>
              </a:ext>
            </a:extLst>
          </p:cNvPr>
          <p:cNvSpPr txBox="1"/>
          <p:nvPr/>
        </p:nvSpPr>
        <p:spPr>
          <a:xfrm>
            <a:off x="5790726" y="4520958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异常</a:t>
            </a:r>
            <a:r>
              <a:rPr lang="en-US" altLang="zh-CN" sz="1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run </a:t>
            </a:r>
            <a:r>
              <a:rPr lang="en-US" altLang="zh-CN" sz="1400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Postloading</a:t>
            </a:r>
            <a:r>
              <a:rPr lang="zh-CN" altLang="en-US" sz="1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阶段压力曲线抖动且形状异常，压力明显偏小</a:t>
            </a:r>
          </a:p>
        </p:txBody>
      </p:sp>
      <p:pic>
        <p:nvPicPr>
          <p:cNvPr id="12" name="图片 11" descr="电脑屏幕的照片&#10;&#10;描述已自动生成">
            <a:extLst>
              <a:ext uri="{FF2B5EF4-FFF2-40B4-BE49-F238E27FC236}">
                <a16:creationId xmlns:a16="http://schemas.microsoft.com/office/drawing/2014/main" id="{461C924E-EC74-7E2E-EE16-1E6EC87A7E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03" y="1804294"/>
            <a:ext cx="2529644" cy="2401741"/>
          </a:xfrm>
          <a:prstGeom prst="rect">
            <a:avLst/>
          </a:prstGeom>
        </p:spPr>
      </p:pic>
      <p:pic>
        <p:nvPicPr>
          <p:cNvPr id="16" name="图片 15" descr="电脑萤幕画面&#10;&#10;描述已自动生成">
            <a:extLst>
              <a:ext uri="{FF2B5EF4-FFF2-40B4-BE49-F238E27FC236}">
                <a16:creationId xmlns:a16="http://schemas.microsoft.com/office/drawing/2014/main" id="{DCC95DCF-BDAC-6155-29FF-5C51B65FFC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047" y="1795583"/>
            <a:ext cx="2689589" cy="245505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EE779B3-6296-E8E2-BE72-E5401CC9A791}"/>
              </a:ext>
            </a:extLst>
          </p:cNvPr>
          <p:cNvSpPr txBox="1"/>
          <p:nvPr/>
        </p:nvSpPr>
        <p:spPr>
          <a:xfrm>
            <a:off x="427418" y="4312729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第一次上机</a:t>
            </a:r>
            <a:r>
              <a:rPr lang="en-US" altLang="zh-CN" sz="1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DNB</a:t>
            </a:r>
            <a:r>
              <a:rPr lang="zh-CN" altLang="en-US" sz="1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基本无信号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286C4C5-E5E4-BA79-EBB4-71C1AAB7CB8C}"/>
              </a:ext>
            </a:extLst>
          </p:cNvPr>
          <p:cNvSpPr txBox="1"/>
          <p:nvPr/>
        </p:nvSpPr>
        <p:spPr>
          <a:xfrm>
            <a:off x="2762235" y="4323149"/>
            <a:ext cx="23338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直接重上从</a:t>
            </a:r>
            <a:r>
              <a:rPr lang="en-US" altLang="zh-CN" sz="1400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postloading</a:t>
            </a:r>
            <a:r>
              <a:rPr lang="zh-CN" altLang="en-US" sz="1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开始，</a:t>
            </a:r>
            <a:r>
              <a:rPr lang="en-US" altLang="zh-CN" sz="1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DNB</a:t>
            </a:r>
            <a:r>
              <a:rPr lang="zh-CN" altLang="en-US" sz="1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有信号，但长草严重</a:t>
            </a:r>
          </a:p>
        </p:txBody>
      </p:sp>
    </p:spTree>
    <p:extLst>
      <p:ext uri="{BB962C8B-B14F-4D97-AF65-F5344CB8AC3E}">
        <p14:creationId xmlns:p14="http://schemas.microsoft.com/office/powerpoint/2010/main" val="331419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5B0B5-9A49-5FDE-2C16-234FA831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8" y="206015"/>
            <a:ext cx="3136470" cy="349511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现场问题描述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4549B5-0176-4D45-9E4B-1C859CF0A2CA}"/>
              </a:ext>
            </a:extLst>
          </p:cNvPr>
          <p:cNvSpPr/>
          <p:nvPr/>
        </p:nvSpPr>
        <p:spPr>
          <a:xfrm>
            <a:off x="375473" y="699542"/>
            <a:ext cx="83930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kumimoji="1"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49B8A-6F0E-CE34-CFE1-EDE51E1728AA}"/>
              </a:ext>
            </a:extLst>
          </p:cNvPr>
          <p:cNvSpPr txBox="1"/>
          <p:nvPr/>
        </p:nvSpPr>
        <p:spPr>
          <a:xfrm>
            <a:off x="215516" y="1038822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2.20</a:t>
            </a:r>
            <a:r>
              <a:rPr lang="zh-CN" altLang="en-US" sz="1400" b="1" dirty="0"/>
              <a:t>首次上机由于无</a:t>
            </a:r>
            <a:r>
              <a:rPr lang="en-US" altLang="zh-CN" sz="1400" b="1" dirty="0"/>
              <a:t>DNB</a:t>
            </a:r>
            <a:r>
              <a:rPr lang="zh-CN" altLang="en-US" sz="1400" b="1" dirty="0"/>
              <a:t>信号找起始点失败，后续直接重启机器重上从</a:t>
            </a:r>
            <a:r>
              <a:rPr lang="en-US" altLang="zh-CN" sz="1400" b="1" dirty="0" err="1"/>
              <a:t>postloading</a:t>
            </a:r>
            <a:r>
              <a:rPr lang="zh-CN" altLang="en-US" sz="1400" b="1" dirty="0"/>
              <a:t>开始，压力曲线正常，</a:t>
            </a:r>
            <a:r>
              <a:rPr lang="en-US" altLang="zh-CN" sz="1400" b="1" dirty="0"/>
              <a:t>DNB</a:t>
            </a:r>
            <a:r>
              <a:rPr lang="zh-CN" altLang="en-US" sz="1400" b="1" dirty="0"/>
              <a:t>信号恢复，证明</a:t>
            </a:r>
            <a:r>
              <a:rPr lang="zh-CN" altLang="en-US" sz="1400" b="1" dirty="0">
                <a:highlight>
                  <a:srgbClr val="FFFF00"/>
                </a:highlight>
              </a:rPr>
              <a:t>首次上机过程</a:t>
            </a:r>
            <a:r>
              <a:rPr lang="en-US" altLang="zh-CN" sz="1400" b="1" dirty="0" err="1">
                <a:highlight>
                  <a:srgbClr val="FFFF00"/>
                </a:highlight>
              </a:rPr>
              <a:t>postloading</a:t>
            </a:r>
            <a:r>
              <a:rPr lang="zh-CN" altLang="en-US" sz="1400" b="1" dirty="0">
                <a:highlight>
                  <a:srgbClr val="FFFF00"/>
                </a:highlight>
              </a:rPr>
              <a:t>未吸液，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月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号重上机，异常现象与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号一致，问题持续存在</a:t>
            </a:r>
            <a:endParaRPr lang="zh-CN" altLang="en-US" dirty="0"/>
          </a:p>
        </p:txBody>
      </p:sp>
      <p:pic>
        <p:nvPicPr>
          <p:cNvPr id="5" name="图片 4" descr="应用程序&#10;&#10;中度可信度描述已自动生成">
            <a:extLst>
              <a:ext uri="{FF2B5EF4-FFF2-40B4-BE49-F238E27FC236}">
                <a16:creationId xmlns:a16="http://schemas.microsoft.com/office/drawing/2014/main" id="{CFB1DED2-FA06-944F-9802-6F4C14AD8A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65" y="1923678"/>
            <a:ext cx="3284575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3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5B0B5-9A49-5FDE-2C16-234FA831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8" y="206015"/>
            <a:ext cx="3136470" cy="349511"/>
          </a:xfrm>
        </p:spPr>
        <p:txBody>
          <a:bodyPr>
            <a:norm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下一步计划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4549B5-0176-4D45-9E4B-1C859CF0A2CA}"/>
              </a:ext>
            </a:extLst>
          </p:cNvPr>
          <p:cNvSpPr/>
          <p:nvPr/>
        </p:nvSpPr>
        <p:spPr>
          <a:xfrm>
            <a:off x="375473" y="699542"/>
            <a:ext cx="83930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kumimoji="1"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49B8A-6F0E-CE34-CFE1-EDE51E1728AA}"/>
              </a:ext>
            </a:extLst>
          </p:cNvPr>
          <p:cNvSpPr txBox="1"/>
          <p:nvPr/>
        </p:nvSpPr>
        <p:spPr>
          <a:xfrm>
            <a:off x="323528" y="808333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目前售后初步判断是吸液压力不足导致测序异常，但为什么单纯重启后能正常泵液，每次异常仅出现在</a:t>
            </a:r>
            <a:r>
              <a:rPr lang="en-US" altLang="zh-CN" sz="1400" b="1" dirty="0" err="1"/>
              <a:t>postloading</a:t>
            </a:r>
            <a:r>
              <a:rPr lang="zh-CN" altLang="en-US" sz="1400" b="1" dirty="0"/>
              <a:t>阶段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E48A81-F30C-4B0D-4610-C6DAE9682F06}"/>
              </a:ext>
            </a:extLst>
          </p:cNvPr>
          <p:cNvSpPr txBox="1"/>
          <p:nvPr/>
        </p:nvSpPr>
        <p:spPr>
          <a:xfrm>
            <a:off x="323528" y="1707654"/>
            <a:ext cx="7200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其他背景：</a:t>
            </a:r>
            <a:endParaRPr lang="en-US" altLang="zh-CN" sz="1400" b="1" dirty="0"/>
          </a:p>
          <a:p>
            <a:r>
              <a:rPr lang="en-US" altLang="zh-CN" sz="1400" b="1" dirty="0" err="1"/>
              <a:t>Postloading</a:t>
            </a:r>
            <a:r>
              <a:rPr lang="zh-CN" altLang="en-US" sz="1400" b="1" dirty="0"/>
              <a:t>压力不足问题</a:t>
            </a:r>
            <a:r>
              <a:rPr lang="en-US" altLang="zh-CN" sz="1400" b="1" dirty="0"/>
              <a:t>2023</a:t>
            </a:r>
            <a:r>
              <a:rPr lang="zh-CN" altLang="en-US" sz="1400" b="1" dirty="0"/>
              <a:t>年也出现几次，更换过部分流体部件，但一段时间后问题复现，资料如下：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D444418-E7E8-7E0E-1FC0-29CC29BB01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83833"/>
              </p:ext>
            </p:extLst>
          </p:nvPr>
        </p:nvGraphicFramePr>
        <p:xfrm>
          <a:off x="179512" y="2661222"/>
          <a:ext cx="1627911" cy="14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914597" imgH="787488" progId="Word.Document.12">
                  <p:embed/>
                </p:oleObj>
              </mc:Choice>
              <mc:Fallback>
                <p:oleObj name="Document" showAsIcon="1" r:id="rId2" imgW="914597" imgH="7874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9512" y="2661222"/>
                        <a:ext cx="1627911" cy="1401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0642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滑雪, 骑, 游戏机, 雪&#10;&#10;描述已自动生成">
            <a:extLst>
              <a:ext uri="{FF2B5EF4-FFF2-40B4-BE49-F238E27FC236}">
                <a16:creationId xmlns:a16="http://schemas.microsoft.com/office/drawing/2014/main" id="{B79B18AA-8618-3B4C-B4B8-2290AA7EA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31" y="774"/>
            <a:ext cx="9156831" cy="51435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6F8115B-A12B-4C44-907E-60A78DB8F6D2}"/>
              </a:ext>
            </a:extLst>
          </p:cNvPr>
          <p:cNvSpPr txBox="1"/>
          <p:nvPr/>
        </p:nvSpPr>
        <p:spPr>
          <a:xfrm>
            <a:off x="827584" y="699542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dirty="0">
                <a:solidFill>
                  <a:schemeClr val="bg1"/>
                </a:solidFill>
                <a:latin typeface="BGI-Medium" pitchFamily="2" charset="0"/>
              </a:rPr>
              <a:t>Thanks for your time!</a:t>
            </a:r>
            <a:endParaRPr kumimoji="1" lang="zh-CN" altLang="en-US" sz="2800" dirty="0">
              <a:solidFill>
                <a:schemeClr val="bg1"/>
              </a:solidFill>
              <a:latin typeface="BGI-Medium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0356BA-2C81-FA46-9324-7867BF17EC40}"/>
              </a:ext>
            </a:extLst>
          </p:cNvPr>
          <p:cNvSpPr txBox="1"/>
          <p:nvPr/>
        </p:nvSpPr>
        <p:spPr>
          <a:xfrm>
            <a:off x="844105" y="1237096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bg1"/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rPr>
              <a:t>感谢！</a:t>
            </a:r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04477D01-3943-2A43-8483-484D96CAC6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145508"/>
            <a:ext cx="3238500" cy="596900"/>
          </a:xfrm>
          <a:prstGeom prst="rect">
            <a:avLst/>
          </a:prstGeom>
        </p:spPr>
      </p:pic>
      <p:pic>
        <p:nvPicPr>
          <p:cNvPr id="3" name="图片 2" descr="文本, 图标&#10;&#10;描述已自动生成">
            <a:extLst>
              <a:ext uri="{FF2B5EF4-FFF2-40B4-BE49-F238E27FC236}">
                <a16:creationId xmlns:a16="http://schemas.microsoft.com/office/drawing/2014/main" id="{F1C41C2B-BCB2-AE43-96E3-6D3A046824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032935"/>
            <a:ext cx="1728192" cy="122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3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057A6"/>
      </a:accent1>
      <a:accent2>
        <a:srgbClr val="1B9ACC"/>
      </a:accent2>
      <a:accent3>
        <a:srgbClr val="75B729"/>
      </a:accent3>
      <a:accent4>
        <a:srgbClr val="833991"/>
      </a:accent4>
      <a:accent5>
        <a:srgbClr val="727B7A"/>
      </a:accent5>
      <a:accent6>
        <a:srgbClr val="B0AFAF"/>
      </a:accent6>
      <a:hlink>
        <a:srgbClr val="4472C4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10611</TotalTime>
  <Words>246</Words>
  <Application>Microsoft Office PowerPoint</Application>
  <PresentationFormat>全屏显示(16:9)</PresentationFormat>
  <Paragraphs>23</Paragraphs>
  <Slides>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BGI-Medium</vt:lpstr>
      <vt:lpstr>MGI Regular</vt:lpstr>
      <vt:lpstr>Microsoft YaHei Light</vt:lpstr>
      <vt:lpstr>Source Han Sans CN Bold</vt:lpstr>
      <vt:lpstr>Source Han Sans CN Normal</vt:lpstr>
      <vt:lpstr>DengXian</vt:lpstr>
      <vt:lpstr>微软雅黑</vt:lpstr>
      <vt:lpstr>微软雅黑</vt:lpstr>
      <vt:lpstr>Arial</vt:lpstr>
      <vt:lpstr>Calibri</vt:lpstr>
      <vt:lpstr>Wingdings</vt:lpstr>
      <vt:lpstr>Office 主题</vt:lpstr>
      <vt:lpstr>Microsoft Word 文档</vt:lpstr>
      <vt:lpstr>E1-北京优讯200Ppostloading压力不足</vt:lpstr>
      <vt:lpstr>现场案例分析总结</vt:lpstr>
      <vt:lpstr>01 现场问题描述</vt:lpstr>
      <vt:lpstr>01 现场问题描述</vt:lpstr>
      <vt:lpstr>下一步计划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王睿(Rui Wang)</dc:creator>
  <cp:lastModifiedBy>艾通(Tong Ai)</cp:lastModifiedBy>
  <cp:revision>285</cp:revision>
  <dcterms:created xsi:type="dcterms:W3CDTF">2020-06-19T01:44:10Z</dcterms:created>
  <dcterms:modified xsi:type="dcterms:W3CDTF">2024-02-21T08:13:28Z</dcterms:modified>
</cp:coreProperties>
</file>