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007577361" r:id="rId2"/>
    <p:sldId id="2007577378" r:id="rId3"/>
    <p:sldId id="2007577380" r:id="rId4"/>
    <p:sldId id="2007577438" r:id="rId5"/>
    <p:sldId id="2007577439" r:id="rId6"/>
    <p:sldId id="2007577440" r:id="rId7"/>
    <p:sldId id="2007577441" r:id="rId8"/>
    <p:sldId id="2007577388" r:id="rId9"/>
    <p:sldId id="2007577389" r:id="rId10"/>
    <p:sldId id="2007577390" r:id="rId11"/>
    <p:sldId id="2007577391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653B8C7-5048-438B-B8D2-F15A4983CDE5}">
          <p14:sldIdLst>
            <p14:sldId id="2007577361"/>
            <p14:sldId id="2007577378"/>
            <p14:sldId id="2007577380"/>
            <p14:sldId id="2007577438"/>
            <p14:sldId id="2007577439"/>
            <p14:sldId id="2007577440"/>
            <p14:sldId id="2007577441"/>
            <p14:sldId id="2007577388"/>
            <p14:sldId id="2007577389"/>
            <p14:sldId id="2007577390"/>
            <p14:sldId id="20075773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DA7"/>
    <a:srgbClr val="00A5A1"/>
    <a:srgbClr val="720C1F"/>
    <a:srgbClr val="0C5DA7"/>
    <a:srgbClr val="085DA7"/>
    <a:srgbClr val="0055A8"/>
    <a:srgbClr val="37619E"/>
    <a:srgbClr val="0070C0"/>
    <a:srgbClr val="FFFD78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0" autoAdjust="0"/>
    <p:restoredTop sz="86684" autoAdjust="0"/>
  </p:normalViewPr>
  <p:slideViewPr>
    <p:cSldViewPr>
      <p:cViewPr varScale="1">
        <p:scale>
          <a:sx n="130" d="100"/>
          <a:sy n="130" d="100"/>
        </p:scale>
        <p:origin x="1068" y="114"/>
      </p:cViewPr>
      <p:guideLst>
        <p:guide orient="horz" pos="324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A6023-605D-3B43-943E-05438FD8F960}" type="datetimeFigureOut">
              <a:rPr kumimoji="1" lang="zh-CN" altLang="en-US" smtClean="0"/>
              <a:t>2023/10/7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78D49-89F0-B84A-A2E9-4954859F3F0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46782" y="3724673"/>
            <a:ext cx="6400800" cy="369407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>
                <a:solidFill>
                  <a:srgbClr val="0C5DA7"/>
                </a:solidFill>
                <a:latin typeface="MGI Regular" panose="02010604000000000000" pitchFamily="2" charset="-122"/>
                <a:ea typeface="MGI Regular" panose="02010604000000000000" pitchFamily="2" charset="-122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1EF235-79A7-C848-8B9C-DB0319E2567D}"/>
              </a:ext>
            </a:extLst>
          </p:cNvPr>
          <p:cNvGrpSpPr/>
          <p:nvPr userDrawn="1"/>
        </p:nvGrpSpPr>
        <p:grpSpPr>
          <a:xfrm>
            <a:off x="-12831" y="1"/>
            <a:ext cx="9156831" cy="2857501"/>
            <a:chOff x="-12831" y="1"/>
            <a:chExt cx="9156831" cy="2857501"/>
          </a:xfrm>
        </p:grpSpPr>
        <p:pic>
          <p:nvPicPr>
            <p:cNvPr id="8" name="图片 7" descr="图片包含 滑雪, 骑, 游戏机, 雪&#10;&#10;描述已自动生成">
              <a:extLst>
                <a:ext uri="{FF2B5EF4-FFF2-40B4-BE49-F238E27FC236}">
                  <a16:creationId xmlns:a16="http://schemas.microsoft.com/office/drawing/2014/main" id="{2E319C2A-546B-AD40-8C23-7A1B274E9E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6944"/>
            <a:stretch/>
          </p:blipFill>
          <p:spPr>
            <a:xfrm>
              <a:off x="-12831" y="1"/>
              <a:ext cx="9156831" cy="2214559"/>
            </a:xfrm>
            <a:prstGeom prst="rect">
              <a:avLst/>
            </a:prstGeom>
          </p:spPr>
        </p:pic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EEF55B98-D5E7-B047-98E1-BBDABE994A45}"/>
                </a:ext>
              </a:extLst>
            </p:cNvPr>
            <p:cNvSpPr/>
            <p:nvPr/>
          </p:nvSpPr>
          <p:spPr>
            <a:xfrm rot="2700000">
              <a:off x="3893339" y="1500180"/>
              <a:ext cx="1357322" cy="13573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429308B2-2A7C-044E-B68C-A6B359A2D6BB}"/>
                </a:ext>
              </a:extLst>
            </p:cNvPr>
            <p:cNvSpPr/>
            <p:nvPr/>
          </p:nvSpPr>
          <p:spPr>
            <a:xfrm rot="2700000">
              <a:off x="4114000" y="1756560"/>
              <a:ext cx="892975" cy="892975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3039231"/>
            <a:ext cx="7772400" cy="614852"/>
          </a:xfrm>
        </p:spPr>
        <p:txBody>
          <a:bodyPr>
            <a:normAutofit/>
          </a:bodyPr>
          <a:lstStyle>
            <a:lvl1pPr>
              <a:defRPr sz="2800" b="1" i="0">
                <a:solidFill>
                  <a:srgbClr val="0C5DA7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08B6B810-E0C5-4742-8030-17FA2B9B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17BBC159-11DB-2E45-8FE2-ABB07B75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4ED33BAF-4114-2040-B09E-9E362CC6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D6B66638-9964-8142-BAF4-CA8296E0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360"/>
            <a:ext cx="4038600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360"/>
            <a:ext cx="4038600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7418" y="195486"/>
            <a:ext cx="3136470" cy="349511"/>
          </a:xfrm>
        </p:spPr>
        <p:txBody>
          <a:bodyPr>
            <a:normAutofit/>
          </a:bodyPr>
          <a:lstStyle>
            <a:lvl1pPr algn="l">
              <a:defRPr sz="1800" b="1" i="0">
                <a:solidFill>
                  <a:srgbClr val="0C5DA7"/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B7DB58-C05F-7740-A44C-B469A415CCD7}"/>
              </a:ext>
            </a:extLst>
          </p:cNvPr>
          <p:cNvSpPr/>
          <p:nvPr userDrawn="1"/>
        </p:nvSpPr>
        <p:spPr>
          <a:xfrm flipH="1">
            <a:off x="334414" y="267494"/>
            <a:ext cx="45720" cy="216000"/>
          </a:xfrm>
          <a:prstGeom prst="rect">
            <a:avLst/>
          </a:prstGeom>
          <a:solidFill>
            <a:srgbClr val="055D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32EFAB-1344-8D4C-AEF2-12B5AF6742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0993" y="-26225"/>
            <a:ext cx="1039519" cy="73545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555526"/>
            <a:ext cx="7459336" cy="472392"/>
          </a:xfrm>
        </p:spPr>
        <p:txBody>
          <a:bodyPr>
            <a:normAutofit/>
          </a:bodyPr>
          <a:lstStyle>
            <a:lvl1pPr algn="r"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A645-D8EF-4256-9E7E-C76C25C6FBC7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A008B-E4A1-488E-A4AD-51F8C6A8F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156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5EE7BE7-B152-FF4C-AECD-5F5775521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713" y="122495"/>
            <a:ext cx="5341844" cy="2420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250" b="1" i="0">
                <a:solidFill>
                  <a:srgbClr val="043D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135E5E-CDA0-3C41-9BA8-6F4ADD6F89F1}"/>
              </a:ext>
            </a:extLst>
          </p:cNvPr>
          <p:cNvSpPr/>
          <p:nvPr userDrawn="1"/>
        </p:nvSpPr>
        <p:spPr>
          <a:xfrm>
            <a:off x="191621" y="172921"/>
            <a:ext cx="252132" cy="252132"/>
          </a:xfrm>
          <a:prstGeom prst="rect">
            <a:avLst/>
          </a:prstGeom>
          <a:solidFill>
            <a:srgbClr val="1B51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17047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0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7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2023/10/7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7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7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61" r:id="rId7"/>
    <p:sldLayoutId id="2147483662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A4FB111F-0AFC-5649-9EAB-EB08AE3EB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2868" y="4155926"/>
            <a:ext cx="2088232" cy="7920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喻志学 赵菁</a:t>
            </a:r>
            <a:endParaRPr kumimoji="1" lang="en-US" altLang="zh-CN" sz="14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2023.08.10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0066D3-2B84-724B-B5F7-5ECE17D87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560" y="3065655"/>
            <a:ext cx="7772400" cy="614852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甘肃妇幼测序中途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退出案例分析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1E38A2-D9EF-4AD8-83AC-D940C881AD17}"/>
              </a:ext>
            </a:extLst>
          </p:cNvPr>
          <p:cNvSpPr txBox="1"/>
          <p:nvPr/>
        </p:nvSpPr>
        <p:spPr>
          <a:xfrm>
            <a:off x="2483768" y="3709236"/>
            <a:ext cx="4176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>
                <a:solidFill>
                  <a:srgbClr val="0C5D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E1</a:t>
            </a:r>
            <a:r>
              <a:rPr kumimoji="1" lang="zh-CN" altLang="en-US" sz="1400" dirty="0">
                <a:solidFill>
                  <a:srgbClr val="0C5D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工单号：</a:t>
            </a:r>
            <a:r>
              <a:rPr kumimoji="1" lang="en-US" altLang="zh-CN" sz="1400" dirty="0">
                <a:solidFill>
                  <a:srgbClr val="0C5DA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SO-2023081001-E1</a:t>
            </a:r>
            <a:endParaRPr kumimoji="1" lang="zh-CN" altLang="en-US" sz="1400" dirty="0">
              <a:solidFill>
                <a:srgbClr val="0C5DA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984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FD3EA-7A52-4ED0-A5E7-0BA4B813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现场案例分析总结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9DC97D-5312-433C-A704-6113AD1EDA42}"/>
              </a:ext>
            </a:extLst>
          </p:cNvPr>
          <p:cNvSpPr txBox="1"/>
          <p:nvPr/>
        </p:nvSpPr>
        <p:spPr>
          <a:xfrm>
            <a:off x="323528" y="771550"/>
            <a:ext cx="8352928" cy="33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现场问题描述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客户端数据整理清单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数据分析和排查方向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FSE/FAS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排查小结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现存关键问题梳理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下一步计划</a:t>
            </a:r>
          </a:p>
        </p:txBody>
      </p:sp>
    </p:spTree>
    <p:extLst>
      <p:ext uri="{BB962C8B-B14F-4D97-AF65-F5344CB8AC3E}">
        <p14:creationId xmlns:p14="http://schemas.microsoft.com/office/powerpoint/2010/main" val="220902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5B0B5-9A49-5FDE-2C16-234FA831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8" y="206015"/>
            <a:ext cx="3136470" cy="349511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现场问题描述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549B5-0176-4D45-9E4B-1C859CF0A2CA}"/>
              </a:ext>
            </a:extLst>
          </p:cNvPr>
          <p:cNvSpPr/>
          <p:nvPr/>
        </p:nvSpPr>
        <p:spPr>
          <a:xfrm>
            <a:off x="375473" y="347215"/>
            <a:ext cx="8393054" cy="3724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kumimoji="1"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现场问题</a:t>
            </a:r>
            <a:r>
              <a:rPr kumimoji="1" lang="en-US" altLang="zh-CN" sz="1100" i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100" i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问题点从简描述，图文并茂）</a:t>
            </a:r>
            <a:endParaRPr kumimoji="1" lang="en-US" altLang="zh-CN" sz="1100" i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kumimoji="1"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2023.8.4</a:t>
            </a:r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测序拍照中途停止，报错显示</a:t>
            </a:r>
            <a:r>
              <a:rPr kumimoji="1"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断联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9D8CCA-6421-4CFD-9C15-19621100F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39" y="1322575"/>
            <a:ext cx="5442333" cy="326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9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B2761-D843-A144-6450-2043D246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问题汇总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5763AE5-59DB-4E2A-BE40-1D332B2CB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569901"/>
              </p:ext>
            </p:extLst>
          </p:nvPr>
        </p:nvGraphicFramePr>
        <p:xfrm>
          <a:off x="107504" y="880530"/>
          <a:ext cx="8873491" cy="338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605">
                  <a:extLst>
                    <a:ext uri="{9D8B030D-6E8A-4147-A177-3AD203B41FA5}">
                      <a16:colId xmlns:a16="http://schemas.microsoft.com/office/drawing/2014/main" val="2907875028"/>
                    </a:ext>
                  </a:extLst>
                </a:gridCol>
                <a:gridCol w="872918">
                  <a:extLst>
                    <a:ext uri="{9D8B030D-6E8A-4147-A177-3AD203B41FA5}">
                      <a16:colId xmlns:a16="http://schemas.microsoft.com/office/drawing/2014/main" val="1252008703"/>
                    </a:ext>
                  </a:extLst>
                </a:gridCol>
                <a:gridCol w="696926">
                  <a:extLst>
                    <a:ext uri="{9D8B030D-6E8A-4147-A177-3AD203B41FA5}">
                      <a16:colId xmlns:a16="http://schemas.microsoft.com/office/drawing/2014/main" val="1426230101"/>
                    </a:ext>
                  </a:extLst>
                </a:gridCol>
                <a:gridCol w="746204">
                  <a:extLst>
                    <a:ext uri="{9D8B030D-6E8A-4147-A177-3AD203B41FA5}">
                      <a16:colId xmlns:a16="http://schemas.microsoft.com/office/drawing/2014/main" val="4242460515"/>
                    </a:ext>
                  </a:extLst>
                </a:gridCol>
                <a:gridCol w="625109">
                  <a:extLst>
                    <a:ext uri="{9D8B030D-6E8A-4147-A177-3AD203B41FA5}">
                      <a16:colId xmlns:a16="http://schemas.microsoft.com/office/drawing/2014/main" val="905092698"/>
                    </a:ext>
                  </a:extLst>
                </a:gridCol>
                <a:gridCol w="725085">
                  <a:extLst>
                    <a:ext uri="{9D8B030D-6E8A-4147-A177-3AD203B41FA5}">
                      <a16:colId xmlns:a16="http://schemas.microsoft.com/office/drawing/2014/main" val="2707858656"/>
                    </a:ext>
                  </a:extLst>
                </a:gridCol>
                <a:gridCol w="767323">
                  <a:extLst>
                    <a:ext uri="{9D8B030D-6E8A-4147-A177-3AD203B41FA5}">
                      <a16:colId xmlns:a16="http://schemas.microsoft.com/office/drawing/2014/main" val="2805766412"/>
                    </a:ext>
                  </a:extLst>
                </a:gridCol>
                <a:gridCol w="675807">
                  <a:extLst>
                    <a:ext uri="{9D8B030D-6E8A-4147-A177-3AD203B41FA5}">
                      <a16:colId xmlns:a16="http://schemas.microsoft.com/office/drawing/2014/main" val="214107824"/>
                    </a:ext>
                  </a:extLst>
                </a:gridCol>
                <a:gridCol w="1167077">
                  <a:extLst>
                    <a:ext uri="{9D8B030D-6E8A-4147-A177-3AD203B41FA5}">
                      <a16:colId xmlns:a16="http://schemas.microsoft.com/office/drawing/2014/main" val="1538500507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1031596964"/>
                    </a:ext>
                  </a:extLst>
                </a:gridCol>
                <a:gridCol w="969277">
                  <a:extLst>
                    <a:ext uri="{9D8B030D-6E8A-4147-A177-3AD203B41FA5}">
                      <a16:colId xmlns:a16="http://schemas.microsoft.com/office/drawing/2014/main" val="3107398167"/>
                    </a:ext>
                  </a:extLst>
                </a:gridCol>
              </a:tblGrid>
              <a:tr h="5256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客户端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首次出现时间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OEM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SN</a:t>
                      </a:r>
                      <a:r>
                        <a:rPr lang="zh-CN" altLang="en-US" sz="1000" dirty="0"/>
                        <a:t>号码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仪器版本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Windows</a:t>
                      </a:r>
                      <a:r>
                        <a:rPr lang="zh-CN" altLang="en-US" sz="1000" dirty="0"/>
                        <a:t>版本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SBC</a:t>
                      </a:r>
                      <a:r>
                        <a:rPr lang="zh-CN" altLang="en-US" sz="1000" dirty="0"/>
                        <a:t>供应商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相机供应商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出现场景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临时解决方案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问题是否复现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40195192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甘肃省妇幼保健院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2023.8.8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泛生子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GH004-22020009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ECR6.0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Win 10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融科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PCO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测序中途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重装控制软件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4635342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中大六院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2023.9.18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贝康</a:t>
                      </a:r>
                      <a:endParaRPr lang="en-US" altLang="zh-CN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ECR5.2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Win 10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融科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PCO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测序中途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升级到</a:t>
                      </a:r>
                      <a:r>
                        <a:rPr lang="en-US" altLang="zh-CN" sz="1000" dirty="0"/>
                        <a:t>ECR6.0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22192738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南区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吉因加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ECR6.0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Win 10</a:t>
                      </a:r>
                      <a:endParaRPr lang="zh-CN" altLang="en-US" sz="1000" dirty="0"/>
                    </a:p>
                    <a:p>
                      <a:pPr algn="ctr"/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融科</a:t>
                      </a:r>
                    </a:p>
                    <a:p>
                      <a:pPr algn="ctr"/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err="1"/>
                        <a:t>Andor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待机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重装控制软件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96657505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C00000"/>
                          </a:solidFill>
                        </a:rPr>
                        <a:t>南区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C00000"/>
                          </a:solidFill>
                        </a:rPr>
                        <a:t>\</a:t>
                      </a:r>
                    </a:p>
                    <a:p>
                      <a:pPr algn="ctr"/>
                      <a:endParaRPr lang="zh-CN" alt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C00000"/>
                          </a:solidFill>
                        </a:rPr>
                        <a:t>R2100410220079</a:t>
                      </a:r>
                      <a:endParaRPr lang="zh-CN" alt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rgbClr val="C00000"/>
                          </a:solidFill>
                        </a:rPr>
                        <a:t>ECR6.0</a:t>
                      </a:r>
                      <a:endParaRPr lang="zh-CN" alt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 dirty="0">
                          <a:solidFill>
                            <a:srgbClr val="C00000"/>
                          </a:solidFill>
                        </a:rPr>
                        <a:t>Win 10</a:t>
                      </a:r>
                      <a:endParaRPr lang="zh-CN" altLang="en-US" sz="1500" b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endParaRPr lang="zh-CN" alt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C00000"/>
                          </a:solidFill>
                        </a:rPr>
                        <a:t>融科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 err="1">
                          <a:solidFill>
                            <a:srgbClr val="C00000"/>
                          </a:solidFill>
                        </a:rPr>
                        <a:t>Andor</a:t>
                      </a:r>
                      <a:endParaRPr lang="zh-CN" alt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C00000"/>
                          </a:solidFill>
                        </a:rPr>
                        <a:t>两次均待机时出现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C00000"/>
                          </a:solidFill>
                        </a:rPr>
                        <a:t>重装控制软件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rgbClr val="C00000"/>
                          </a:solidFill>
                        </a:rPr>
                        <a:t>是</a:t>
                      </a:r>
                      <a:endParaRPr lang="en-US" altLang="zh-CN" sz="1500" b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en-US" altLang="zh-CN" sz="1500" b="1" dirty="0">
                          <a:solidFill>
                            <a:srgbClr val="C00000"/>
                          </a:solidFill>
                        </a:rPr>
                        <a:t>9.26</a:t>
                      </a:r>
                      <a:endParaRPr lang="zh-CN" altLang="en-US" sz="1500" b="1" dirty="0">
                        <a:solidFill>
                          <a:srgbClr val="C00000"/>
                        </a:solidFill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289789888"/>
                  </a:ext>
                </a:extLst>
              </a:tr>
              <a:tr h="5256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上海嘉检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2023.7.7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嘉检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Y0010221203</a:t>
                      </a:r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ECR6.0</a:t>
                      </a:r>
                      <a:endParaRPr lang="zh-CN" altLang="en-US" sz="1000" dirty="0"/>
                    </a:p>
                    <a:p>
                      <a:pPr algn="ctr"/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Win 10</a:t>
                      </a:r>
                      <a:endParaRPr lang="zh-CN" altLang="en-US" sz="1000" dirty="0"/>
                    </a:p>
                    <a:p>
                      <a:pPr algn="ctr"/>
                      <a:endParaRPr lang="zh-CN" alt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暂时无法确定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暂时无法确定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测序中途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重装控制软件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/>
                        <a:t>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66941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87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B2761-D843-A144-6450-2043D246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甘肃省妇幼保健院：</a:t>
            </a:r>
            <a:r>
              <a:rPr lang="en-US" altLang="zh-CN" dirty="0"/>
              <a:t>PCO </a:t>
            </a:r>
            <a:r>
              <a:rPr lang="zh-CN" altLang="en-US" dirty="0"/>
              <a:t>相机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A48358-26FD-462A-AB2C-EDD0CD90F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35" y="851953"/>
            <a:ext cx="8485931" cy="302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0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B2761-D843-A144-6450-2043D246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中大六院：</a:t>
            </a:r>
            <a:r>
              <a:rPr lang="en-US" altLang="zh-CN" dirty="0"/>
              <a:t>PCO</a:t>
            </a:r>
            <a:r>
              <a:rPr lang="zh-CN" altLang="en-US" dirty="0"/>
              <a:t>相机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F8733BB-2793-47BF-B3C4-260C63898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3" y="947468"/>
            <a:ext cx="8754290" cy="324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41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B2761-D843-A144-6450-2043D2467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南区复现</a:t>
            </a:r>
            <a:r>
              <a:rPr lang="en-US" altLang="zh-C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en-US" altLang="zh-CN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Andor</a:t>
            </a:r>
            <a:r>
              <a:rPr lang="en-US" altLang="zh-C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相机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B448BE-7D10-45FD-AA9D-17B3ABADFA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49" y="792480"/>
            <a:ext cx="4421332" cy="33147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FAD5E7C-BA3E-47FB-B129-D84111171E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308" y="792480"/>
            <a:ext cx="4421332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95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5B0B5-9A49-5FDE-2C16-234FA831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8" y="206015"/>
            <a:ext cx="3136470" cy="349511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现场问题描述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549B5-0176-4D45-9E4B-1C859CF0A2CA}"/>
              </a:ext>
            </a:extLst>
          </p:cNvPr>
          <p:cNvSpPr/>
          <p:nvPr/>
        </p:nvSpPr>
        <p:spPr>
          <a:xfrm>
            <a:off x="375473" y="347215"/>
            <a:ext cx="8393054" cy="3470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kumimoji="1"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现场问题</a:t>
            </a:r>
            <a:r>
              <a:rPr kumimoji="1" lang="en-US" altLang="zh-CN" sz="1100" i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100" i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问题点从简描述，图文并茂）</a:t>
            </a:r>
            <a:endParaRPr kumimoji="1" lang="en-US" altLang="zh-CN" sz="1100" i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系统日志显示第三方应用导致</a:t>
            </a:r>
            <a:r>
              <a:rPr kumimoji="1"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断联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5A6B44-384B-42BB-B3FF-F47AC72DD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18" y="1235249"/>
            <a:ext cx="5659668" cy="37022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E3431C-404A-476C-9FE1-C2F827E09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372" b="10579"/>
          <a:stretch/>
        </p:blipFill>
        <p:spPr>
          <a:xfrm>
            <a:off x="6334330" y="1563638"/>
            <a:ext cx="2377638" cy="272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5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5B0B5-9A49-5FDE-2C16-234FA8311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8" y="206015"/>
            <a:ext cx="3136470" cy="349511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现场问题描述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549B5-0176-4D45-9E4B-1C859CF0A2CA}"/>
              </a:ext>
            </a:extLst>
          </p:cNvPr>
          <p:cNvSpPr/>
          <p:nvPr/>
        </p:nvSpPr>
        <p:spPr>
          <a:xfrm>
            <a:off x="375473" y="347215"/>
            <a:ext cx="8393054" cy="3470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kumimoji="1"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现场问题</a:t>
            </a:r>
            <a:r>
              <a:rPr kumimoji="1" lang="en-US" altLang="zh-CN" sz="1100" i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100" i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问题点从简描述，图文并茂）</a:t>
            </a:r>
            <a:endParaRPr kumimoji="1" lang="en-US" altLang="zh-CN" sz="1100" i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系统日志显示第三方应用导致</a:t>
            </a:r>
            <a:r>
              <a:rPr kumimoji="1"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断联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</a:pPr>
            <a:endParaRPr kumimoji="1"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7935DC-BB28-44BF-A2DC-D16C0A5B4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80" r="3278"/>
          <a:stretch/>
        </p:blipFill>
        <p:spPr>
          <a:xfrm>
            <a:off x="280136" y="1347614"/>
            <a:ext cx="5996727" cy="3589871"/>
          </a:xfrm>
          <a:prstGeom prst="rect">
            <a:avLst/>
          </a:prstGeom>
        </p:spPr>
      </p:pic>
      <p:sp>
        <p:nvSpPr>
          <p:cNvPr id="7" name="箭头: 上 6">
            <a:extLst>
              <a:ext uri="{FF2B5EF4-FFF2-40B4-BE49-F238E27FC236}">
                <a16:creationId xmlns:a16="http://schemas.microsoft.com/office/drawing/2014/main" id="{9CEC53C9-424A-4E1B-8B42-4D13AB9DAC1B}"/>
              </a:ext>
            </a:extLst>
          </p:cNvPr>
          <p:cNvSpPr/>
          <p:nvPr/>
        </p:nvSpPr>
        <p:spPr>
          <a:xfrm>
            <a:off x="1547664" y="3817780"/>
            <a:ext cx="288032" cy="701002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69BFB8-E53B-4301-8620-B002E680C5A3}"/>
              </a:ext>
            </a:extLst>
          </p:cNvPr>
          <p:cNvSpPr txBox="1"/>
          <p:nvPr/>
        </p:nvSpPr>
        <p:spPr>
          <a:xfrm>
            <a:off x="2931314" y="3711718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未找到</a:t>
            </a:r>
            <a:r>
              <a:rPr lang="en-US" altLang="zh-CN" dirty="0"/>
              <a:t>SC2-US83DLL</a:t>
            </a:r>
            <a:r>
              <a:rPr lang="zh-CN" altLang="en-US" dirty="0"/>
              <a:t>相关软件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28017C-58C4-4451-851C-694012786092}"/>
              </a:ext>
            </a:extLst>
          </p:cNvPr>
          <p:cNvSpPr txBox="1"/>
          <p:nvPr/>
        </p:nvSpPr>
        <p:spPr>
          <a:xfrm>
            <a:off x="6364368" y="1114685"/>
            <a:ext cx="27796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南区出现过两次相同问题，重装</a:t>
            </a:r>
            <a:r>
              <a:rPr lang="en-US" altLang="zh-CN" dirty="0"/>
              <a:t>service</a:t>
            </a:r>
            <a:r>
              <a:rPr lang="zh-CN" altLang="en-US" dirty="0"/>
              <a:t>软件后目前运行正常，暂未再次出现问题，但没找到根本原因，请求</a:t>
            </a:r>
            <a:r>
              <a:rPr lang="en-US" altLang="zh-CN" dirty="0"/>
              <a:t>E1</a:t>
            </a:r>
            <a:r>
              <a:rPr lang="zh-CN" altLang="en-US" dirty="0"/>
              <a:t>协助调查</a:t>
            </a:r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E167954-2047-4987-AD25-E8347B7CC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764391"/>
              </p:ext>
            </p:extLst>
          </p:nvPr>
        </p:nvGraphicFramePr>
        <p:xfrm>
          <a:off x="6948264" y="3022139"/>
          <a:ext cx="1462088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3" imgW="977760" imgH="451080" progId="Package">
                  <p:embed/>
                </p:oleObj>
              </mc:Choice>
              <mc:Fallback>
                <p:oleObj name="包装程序外壳对象" showAsIcon="1" r:id="rId3" imgW="977760" imgH="4510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48264" y="3022139"/>
                        <a:ext cx="1462088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307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1E3F8-BD5A-6F1A-CB04-4253D649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18" y="195486"/>
            <a:ext cx="4864662" cy="34951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后续跟进</a:t>
            </a:r>
            <a:r>
              <a:rPr lang="en-US" altLang="zh-CN" dirty="0"/>
              <a:t>-9.18</a:t>
            </a:r>
            <a:r>
              <a:rPr lang="zh-CN" altLang="en-US" dirty="0"/>
              <a:t>日其他客户端新机安装复现</a:t>
            </a:r>
          </a:p>
        </p:txBody>
      </p:sp>
      <p:pic>
        <p:nvPicPr>
          <p:cNvPr id="4" name="图片 3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B94A3042-42DD-C3AC-AEB8-1A8B460022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2" r="4773"/>
          <a:stretch/>
        </p:blipFill>
        <p:spPr>
          <a:xfrm>
            <a:off x="323528" y="652947"/>
            <a:ext cx="7276930" cy="309583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E67E3DB-3658-1E93-6586-3DD7FAD572C6}"/>
              </a:ext>
            </a:extLst>
          </p:cNvPr>
          <p:cNvSpPr txBox="1"/>
          <p:nvPr/>
        </p:nvSpPr>
        <p:spPr>
          <a:xfrm>
            <a:off x="3419872" y="2189796"/>
            <a:ext cx="23487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异常代码0xc0000005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253972-0BD9-BAE1-5097-6538C935EBEC}"/>
              </a:ext>
            </a:extLst>
          </p:cNvPr>
          <p:cNvSpPr txBox="1"/>
          <p:nvPr/>
        </p:nvSpPr>
        <p:spPr>
          <a:xfrm>
            <a:off x="88311" y="3939902"/>
            <a:ext cx="907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提供</a:t>
            </a:r>
            <a:r>
              <a:rPr lang="en-US" altLang="zh-CN" dirty="0"/>
              <a:t>PCO</a:t>
            </a:r>
            <a:r>
              <a:rPr lang="zh-CN" altLang="en-US" dirty="0"/>
              <a:t>相机</a:t>
            </a:r>
            <a:r>
              <a:rPr lang="en-US" altLang="zh-CN" dirty="0"/>
              <a:t>DEBUG</a:t>
            </a:r>
            <a:r>
              <a:rPr lang="zh-CN" altLang="en-US" dirty="0"/>
              <a:t>监控工具记录异常发生原因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4157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FB20B-2565-35D1-AE2D-C18465FD2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排查结论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3257B8-276A-70C8-C3B0-C697B3BB8A8E}"/>
              </a:ext>
            </a:extLst>
          </p:cNvPr>
          <p:cNvSpPr txBox="1"/>
          <p:nvPr/>
        </p:nvSpPr>
        <p:spPr>
          <a:xfrm>
            <a:off x="251520" y="771550"/>
            <a:ext cx="8748464" cy="223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目前定位</a:t>
            </a:r>
            <a:r>
              <a:rPr lang="en-US" altLang="zh-CN" dirty="0"/>
              <a:t>PCO</a:t>
            </a:r>
            <a:r>
              <a:rPr lang="zh-CN" altLang="en-US" dirty="0"/>
              <a:t>相机或其他硬件驱动</a:t>
            </a:r>
            <a:r>
              <a:rPr lang="en-US" altLang="zh-CN" dirty="0"/>
              <a:t>dull</a:t>
            </a:r>
            <a:r>
              <a:rPr lang="zh-CN" altLang="en-US" dirty="0"/>
              <a:t>文件导致测序</a:t>
            </a:r>
            <a:r>
              <a:rPr lang="en-US" altLang="zh-CN" dirty="0"/>
              <a:t>service</a:t>
            </a:r>
            <a:r>
              <a:rPr lang="zh-CN" altLang="en-US" dirty="0"/>
              <a:t>程序中断；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由于该问题定位为</a:t>
            </a:r>
            <a:r>
              <a:rPr lang="en-US" altLang="zh-CN" dirty="0"/>
              <a:t>Windows</a:t>
            </a:r>
            <a:r>
              <a:rPr lang="zh-CN" altLang="en-US" dirty="0"/>
              <a:t>系统运行异常，研发内部研讨多次，暂无明显改善策略。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按照先参考经验，最终解决方案为</a:t>
            </a:r>
            <a:r>
              <a:rPr lang="zh-CN" altLang="en-US" b="1" dirty="0">
                <a:solidFill>
                  <a:srgbClr val="FF0000"/>
                </a:solidFill>
              </a:rPr>
              <a:t>重装</a:t>
            </a:r>
            <a:r>
              <a:rPr lang="en-US" altLang="zh-CN" b="1" dirty="0">
                <a:solidFill>
                  <a:srgbClr val="FF0000"/>
                </a:solidFill>
              </a:rPr>
              <a:t>PUI/Service</a:t>
            </a:r>
            <a:r>
              <a:rPr lang="zh-CN" altLang="en-US" b="1" dirty="0">
                <a:solidFill>
                  <a:srgbClr val="FF0000"/>
                </a:solidFill>
              </a:rPr>
              <a:t>控制软件</a:t>
            </a:r>
            <a:r>
              <a:rPr lang="zh-CN" altLang="en-US" dirty="0"/>
              <a:t>即恢复正常使用。</a:t>
            </a:r>
          </a:p>
          <a:p>
            <a:pPr>
              <a:lnSpc>
                <a:spcPct val="20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95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057A6"/>
      </a:accent1>
      <a:accent2>
        <a:srgbClr val="1B9ACC"/>
      </a:accent2>
      <a:accent3>
        <a:srgbClr val="75B729"/>
      </a:accent3>
      <a:accent4>
        <a:srgbClr val="833991"/>
      </a:accent4>
      <a:accent5>
        <a:srgbClr val="727B7A"/>
      </a:accent5>
      <a:accent6>
        <a:srgbClr val="B0AFAF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7625</TotalTime>
  <Words>397</Words>
  <Application>Microsoft Office PowerPoint</Application>
  <PresentationFormat>全屏显示(16:9)</PresentationFormat>
  <Paragraphs>124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MGI Regular</vt:lpstr>
      <vt:lpstr>Source Han Sans CN Bold</vt:lpstr>
      <vt:lpstr>DengXian</vt:lpstr>
      <vt:lpstr>微软雅黑</vt:lpstr>
      <vt:lpstr>微软雅黑</vt:lpstr>
      <vt:lpstr>Arial</vt:lpstr>
      <vt:lpstr>Calibri</vt:lpstr>
      <vt:lpstr>Times New Roman</vt:lpstr>
      <vt:lpstr>Wingdings</vt:lpstr>
      <vt:lpstr>Office 主题</vt:lpstr>
      <vt:lpstr>包装程序外壳对象</vt:lpstr>
      <vt:lpstr>甘肃妇幼测序中途Service退出案例分析</vt:lpstr>
      <vt:lpstr>现场案例分析总结</vt:lpstr>
      <vt:lpstr>01 现场问题描述</vt:lpstr>
      <vt:lpstr>问题汇总</vt:lpstr>
      <vt:lpstr>甘肃省妇幼保健院：PCO 相机</vt:lpstr>
      <vt:lpstr>中大六院：PCO相机</vt:lpstr>
      <vt:lpstr>南区复现:Andor 相机</vt:lpstr>
      <vt:lpstr>01 现场问题描述</vt:lpstr>
      <vt:lpstr>01 现场问题描述</vt:lpstr>
      <vt:lpstr>后续跟进-9.18日其他客户端新机安装复现</vt:lpstr>
      <vt:lpstr>排查结论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王睿(Rui Wang)</dc:creator>
  <cp:lastModifiedBy>喻志学(Zhixue Yu)</cp:lastModifiedBy>
  <cp:revision>234</cp:revision>
  <dcterms:created xsi:type="dcterms:W3CDTF">2020-06-19T01:44:10Z</dcterms:created>
  <dcterms:modified xsi:type="dcterms:W3CDTF">2023-10-07T06:04:12Z</dcterms:modified>
</cp:coreProperties>
</file>